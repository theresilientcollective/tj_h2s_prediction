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30584" y="146304"/>
            <a:ext cx="329184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30584" y="14630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1133856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Have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D6E5"/>
                </a:solidFill>
              </a:rPr>
              <a:t>Hourly 3-class XGBoost at NESTOR-BES  ·  Primary production system  ·  Active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1338560" cy="18288"/>
          </a:xfrm>
          <a:prstGeom prst="rect">
            <a:avLst/>
          </a:prstGeom>
          <a:solidFill>
            <a:srgbClr val="2C3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2C3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8AA8"/>
                </a:solidFill>
              </a:rPr>
              <a:t>Tijuana River Valley  H₂S Prediction  ·  Model Status  ·  June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3749039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2646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755648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500">
                <a:solidFill>
                  <a:srgbClr val="FFFFFF"/>
                </a:solidFill>
              </a:rPr>
              <a:t>›  Single XGBoost trained on NESTOR-BES observations</a:t>
            </a:r>
          </a:p>
          <a:p>
            <a:pPr>
              <a:spcBef>
                <a:spcPts val="1400"/>
              </a:spcBef>
            </a:pPr>
            <a:r>
              <a:rPr sz="1500">
                <a:solidFill>
                  <a:srgbClr val="FFFFFF"/>
                </a:solidFill>
              </a:rPr>
              <a:t>›  43-feature input: weather, wind, flow, H₂S lags, SBIWTP, atmospheric stability</a:t>
            </a:r>
          </a:p>
          <a:p>
            <a:pPr>
              <a:spcBef>
                <a:spcPts val="1400"/>
              </a:spcBef>
            </a:pPr>
            <a:r>
              <a:rPr sz="1500">
                <a:solidFill>
                  <a:srgbClr val="FFFFFF"/>
                </a:solidFill>
              </a:rPr>
              <a:t>›  Three output classes: Green (&lt;5 ppb) · Yellow (5–30 ppb) · Orange (≥30 ppb)</a:t>
            </a:r>
          </a:p>
          <a:p>
            <a:pPr>
              <a:spcBef>
                <a:spcPts val="1400"/>
              </a:spcBef>
            </a:pPr>
            <a:r>
              <a:rPr sz="1500">
                <a:solidFill>
                  <a:srgbClr val="FFFFFF"/>
                </a:solidFill>
              </a:rPr>
              <a:t>›  hour_sin/cos + stable_atm + is_night — model sees time-of-day signal</a:t>
            </a:r>
          </a:p>
          <a:p>
            <a:pPr>
              <a:spcBef>
                <a:spcPts val="1400"/>
              </a:spcBef>
            </a:pPr>
            <a:r>
              <a:rPr sz="1500">
                <a:solidFill>
                  <a:srgbClr val="FFFFFF"/>
                </a:solidFill>
              </a:rPr>
              <a:t>›  Ongoing retraining via Dagster hourly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7" y="1371600"/>
            <a:ext cx="3749039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7" y="142646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</a:rP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7" y="1755648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>
                <a:solidFill>
                  <a:srgbClr val="C8D6E5"/>
                </a:solidFill>
              </a:rPr>
              <a:t>Orange recall:</a:t>
            </a:r>
            <a:r>
              <a:rPr sz="1400" b="1">
                <a:solidFill>
                  <a:srgbClr val="1ABC9C"/>
                </a:solidFill>
              </a:rPr>
              <a:t>  61.3 %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C8D6E5"/>
                </a:solidFill>
              </a:rPr>
              <a:t>False alarm rate:</a:t>
            </a:r>
            <a:r>
              <a:rPr sz="1400" b="1">
                <a:solidFill>
                  <a:srgbClr val="27AE60"/>
                </a:solidFill>
              </a:rPr>
              <a:t>  5.4 %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C8D6E5"/>
                </a:solidFill>
              </a:rPr>
              <a:t>Night (20h–06h):</a:t>
            </a:r>
            <a:r>
              <a:rPr sz="1400" b="1">
                <a:solidFill>
                  <a:srgbClr val="1ABC9C"/>
                </a:solidFill>
              </a:rPr>
              <a:t>  Higher recall — most events are nocturnal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C8D6E5"/>
                </a:solidFill>
              </a:rPr>
              <a:t>Day  (06h–20h):</a:t>
            </a:r>
            <a:r>
              <a:rPr sz="1400" b="1">
                <a:solidFill>
                  <a:srgbClr val="F1C40F"/>
                </a:solidFill>
              </a:rPr>
              <a:t>  Lower recall, consistent FAR — not day-blind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C8D6E5"/>
                </a:solidFill>
              </a:rPr>
              <a:t>3-class benefit:</a:t>
            </a:r>
            <a:r>
              <a:rPr sz="1400" b="1">
                <a:solidFill>
                  <a:srgbClr val="FFFFFF"/>
                </a:solidFill>
              </a:rPr>
              <a:t>  Yellow captures moderate events a binary split misses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11894" y="1371600"/>
            <a:ext cx="3749039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4" y="142646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Known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4" y="1755648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sz="1500">
                <a:solidFill>
                  <a:srgbClr val="C8D6E5"/>
                </a:solidFill>
              </a:rPr>
              <a:t>›  NESTOR-BES only — no outputs for IB CIVIC CTR or SAN YSIDRO</a:t>
            </a:r>
          </a:p>
          <a:p>
            <a:pPr>
              <a:spcBef>
                <a:spcPts val="1800"/>
              </a:spcBef>
            </a:pPr>
            <a:r>
              <a:rPr sz="1500">
                <a:solidFill>
                  <a:srgbClr val="C8D6E5"/>
                </a:solidFill>
              </a:rPr>
              <a:t>›  No lead-time resolution — same model weights used at 0 h and 24 h ahead</a:t>
            </a:r>
          </a:p>
          <a:p>
            <a:pPr>
              <a:spcBef>
                <a:spcPts val="1800"/>
              </a:spcBef>
            </a:pPr>
            <a:r>
              <a:rPr sz="1500">
                <a:solidFill>
                  <a:srgbClr val="C8D6E5"/>
                </a:solidFill>
              </a:rPr>
              <a:t>›  Multi-horizon pipeline is built (36 models, 3 stations, 4 horizons) but STOPPED — needs out-of-season validation before restart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30584" y="146304"/>
            <a:ext cx="329184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30584" y="14630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1133856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D6E5"/>
                </a:solidFill>
              </a:rPr>
              <a:t>Tiered alert system (T1–T3)  ·  Complete collapse Apr–May 2026  →  Repaired 2026-06-02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1338560" cy="18288"/>
          </a:xfrm>
          <a:prstGeom prst="rect">
            <a:avLst/>
          </a:prstGeom>
          <a:solidFill>
            <a:srgbClr val="2C3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2C3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8AA8"/>
                </a:solidFill>
              </a:rPr>
              <a:t>Tijuana River Valley  H₂S Prediction  ·  Model Status  ·  June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3749039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2646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The Collapse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55648"/>
            <a:ext cx="1234440" cy="3383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01368"/>
            <a:ext cx="117043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1755648"/>
            <a:ext cx="1005840" cy="3383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1801368"/>
            <a:ext cx="94183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% fired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755648"/>
            <a:ext cx="1143000" cy="3383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1801368"/>
            <a:ext cx="1078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Real H₂S?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093976"/>
            <a:ext cx="1234440" cy="338328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39696"/>
            <a:ext cx="117043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Feb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2093976"/>
            <a:ext cx="1005840" cy="338328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2139696"/>
            <a:ext cx="94183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5.5 %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093976"/>
            <a:ext cx="1143000" cy="338328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2139696"/>
            <a:ext cx="1078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32304"/>
            <a:ext cx="1234440" cy="338328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478024"/>
            <a:ext cx="117043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2432304"/>
            <a:ext cx="1005840" cy="338328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40" y="2478024"/>
            <a:ext cx="94183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15.5 %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432304"/>
            <a:ext cx="1143000" cy="338328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2478024"/>
            <a:ext cx="1078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770632"/>
            <a:ext cx="1234440" cy="338328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816352"/>
            <a:ext cx="117043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Apr 2026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2770632"/>
            <a:ext cx="1005840" cy="338328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2816352"/>
            <a:ext cx="94183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</a:rPr>
              <a:t>0.0 %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2770632"/>
            <a:ext cx="1143000" cy="338328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80" y="2816352"/>
            <a:ext cx="1078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</a:rPr>
              <a:t>48 ppb avg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108960"/>
            <a:ext cx="1234440" cy="338328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154680"/>
            <a:ext cx="117043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May 2026 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0" y="3108960"/>
            <a:ext cx="1005840" cy="338328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91640" y="3154680"/>
            <a:ext cx="94183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</a:rPr>
              <a:t>0.0 %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3108960"/>
            <a:ext cx="1143000" cy="338328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80" y="3154680"/>
            <a:ext cx="1078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</a:rPr>
              <a:t>13 ppb avg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36118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D6E5"/>
                </a:solidFill>
              </a:rPr>
              <a:t>Root causes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3904488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C8D6E5"/>
                </a:solidFill>
              </a:rPr>
              <a:t>›  SBIWTP hard gate: plant at surplus all spring → anomaly ≥ 0 → entire alert chain dead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C8D6E5"/>
                </a:solidFill>
              </a:rPr>
              <a:t>›  SBIWTP weights 5–9× too large → surplus pushed score down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C8D6E5"/>
                </a:solidFill>
              </a:rPr>
              <a:t>›  quiet_night_stats were placeholders — sbiwtp_anomaly std 22× inflated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61687" y="1371600"/>
            <a:ext cx="3749039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61687" y="142646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The Fixes  (v4 config, 2026-06-02)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61687" y="1755648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300">
                <a:solidFill>
                  <a:srgbClr val="FFFFFF"/>
                </a:solidFill>
              </a:rPr>
              <a:t>›  Gate: SBIWTP deficit prerequisite replaced by met-data availability (wind_speed_10m not NaN)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FFFFFF"/>
                </a:solidFill>
              </a:rPr>
              <a:t>›  Weights re-derived from Oct 2024–Jun 2026 full dataset (Cohen's d):
  sbiwtp_flow  −1.44 → −0.24
  flow_log sign flip → +0.38
  stable_atm → +0.50   |   wind_speed remains −0.54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FFFFFF"/>
                </a:solidFill>
              </a:rPr>
              <a:t>›  Tier 1 expanded: atmospheric features added so calm/stable nights unlock the chain even with no SBIWTP deficit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FFFFFF"/>
                </a:solidFill>
              </a:rPr>
              <a:t>›  quiet_night_stats calibrated from 1,230 real quiet-night rows — sbiwtp_anomaly std 3.5 → 0.16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11894" y="1371600"/>
            <a:ext cx="3749039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11894" y="142646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</a:rPr>
              <a:t>Recall  Before → After  (Tier 3)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11894" y="1755648"/>
            <a:ext cx="105156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48470" y="180136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63454" y="1755648"/>
            <a:ext cx="96012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00030" y="180136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Horizon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323574" y="1755648"/>
            <a:ext cx="704088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60150" y="180136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027662" y="1755648"/>
            <a:ext cx="758952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64238" y="18013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11894" y="2121408"/>
            <a:ext cx="1051560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48470" y="216712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Apr 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63454" y="2121408"/>
            <a:ext cx="960120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00030" y="216712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nowcast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323574" y="2121408"/>
            <a:ext cx="704088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60150" y="216712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7E22"/>
                </a:solidFill>
              </a:rPr>
              <a:t>0.08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027662" y="2121408"/>
            <a:ext cx="758952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64238" y="216712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0.54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11894" y="2487168"/>
            <a:ext cx="1051560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48470" y="253288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Apr 2026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63454" y="2487168"/>
            <a:ext cx="960120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00030" y="253288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mid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323574" y="2487168"/>
            <a:ext cx="704088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60150" y="253288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7E22"/>
                </a:solidFill>
              </a:rPr>
              <a:t>0.08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027662" y="2487168"/>
            <a:ext cx="758952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064238" y="253288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0.45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11894" y="2852928"/>
            <a:ext cx="1051560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48470" y="289864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Apr 2026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63454" y="2852928"/>
            <a:ext cx="960120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00030" y="289864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day-ahead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323574" y="2852928"/>
            <a:ext cx="704088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360150" y="289864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7E22"/>
                </a:solidFill>
              </a:rPr>
              <a:t>0.07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027662" y="2852928"/>
            <a:ext cx="758952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064238" y="289864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0.29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11894" y="3218688"/>
            <a:ext cx="1051560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48470" y="326440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363454" y="3218688"/>
            <a:ext cx="960120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00030" y="326440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nowcast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323574" y="3218688"/>
            <a:ext cx="704088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60150" y="326440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7E22"/>
                </a:solidFill>
              </a:rPr>
              <a:t>0.00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027662" y="3218688"/>
            <a:ext cx="758952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064238" y="326440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0.48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11894" y="3584448"/>
            <a:ext cx="1051560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348470" y="363016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363454" y="3584448"/>
            <a:ext cx="960120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400030" y="363016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mid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323574" y="3584448"/>
            <a:ext cx="704088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360150" y="363016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7E22"/>
                </a:solidFill>
              </a:rPr>
              <a:t>0.00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027662" y="3584448"/>
            <a:ext cx="758952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064238" y="36301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0.41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311894" y="3950208"/>
            <a:ext cx="1051560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48470" y="399592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363454" y="3950208"/>
            <a:ext cx="960120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00030" y="399592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day-ahead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323574" y="3950208"/>
            <a:ext cx="704088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360150" y="399592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7E22"/>
                </a:solidFill>
              </a:rPr>
              <a:t>0.00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027662" y="3950208"/>
            <a:ext cx="758952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064238" y="399592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0.24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311894" y="4315968"/>
            <a:ext cx="1051560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48470" y="436168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All months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363454" y="4315968"/>
            <a:ext cx="960120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400030" y="436168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nowcast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323574" y="4315968"/>
            <a:ext cx="704088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360150" y="436168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7E22"/>
                </a:solidFill>
              </a:rPr>
              <a:t>0.23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027662" y="4315968"/>
            <a:ext cx="758952" cy="36576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064238" y="436168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0.35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11894" y="479145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System no longer collapses on atmospheric-driven events.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530584" y="146304"/>
            <a:ext cx="329184" cy="329184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30584" y="14630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B2D"/>
                </a:solidFill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11338560" cy="36576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What's Left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D6E5"/>
                </a:solidFill>
              </a:rPr>
              <a:t>Remaining gaps after the fix  ·  Open work items  ·  Path to broader coverage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11338560" cy="18288"/>
          </a:xfrm>
          <a:prstGeom prst="rect">
            <a:avLst/>
          </a:prstGeom>
          <a:solidFill>
            <a:srgbClr val="2C3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2C3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8AA8"/>
                </a:solidFill>
              </a:rPr>
              <a:t>Tijuana River Valley  H₂S Prediction  ·  Model Status  ·  June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3566160" cy="4663440"/>
          </a:xfrm>
          <a:prstGeom prst="rect">
            <a:avLst/>
          </a:prstGeom>
          <a:solidFill>
            <a:srgbClr val="14264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98448"/>
            <a:ext cx="35661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38988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Gap 1  —  Daytime alerting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" y="1792224"/>
            <a:ext cx="3346704" cy="18288"/>
          </a:xfrm>
          <a:prstGeom prst="rect">
            <a:avLst/>
          </a:prstGeom>
          <a:solidFill>
            <a:srgbClr val="2C3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1865376"/>
            <a:ext cx="3364992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C8D6E5"/>
                </a:solidFill>
              </a:rPr>
              <a:t>›  Zero fires on daytime hours in Apr/May 2026 — fix did not help daytime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C8D6E5"/>
                </a:solidFill>
              </a:rPr>
              <a:t>›  Sea breeze raises wind speed above 4.0 m/s gate during daylight — gate never passes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C8D6E5"/>
                </a:solidFill>
              </a:rPr>
              <a:t>›  Daytime H₂S events driven by different mechanisms than nocturnal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C8D6E5"/>
                </a:solidFill>
              </a:rPr>
              <a:t>›  Needs separate daytime gate thresholds or a parallel daytime scoring path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C8D6E5"/>
                </a:solidFill>
              </a:rPr>
              <a:t>›  Left as future work — requires labeled daytime event dataset to calibrate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1687" y="1298448"/>
            <a:ext cx="3566160" cy="4663440"/>
          </a:xfrm>
          <a:prstGeom prst="rect">
            <a:avLst/>
          </a:prstGeom>
          <a:solidFill>
            <a:srgbClr val="142640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7" y="1298448"/>
            <a:ext cx="3566160" cy="54864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5" y="138988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Gap 2  —  Tiered system maturity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71415" y="1792224"/>
            <a:ext cx="3346704" cy="18288"/>
          </a:xfrm>
          <a:prstGeom prst="rect">
            <a:avLst/>
          </a:prstGeom>
          <a:solidFill>
            <a:srgbClr val="2C3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1415" y="1865376"/>
            <a:ext cx="3364992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C8D6E5"/>
                </a:solidFill>
              </a:rPr>
              <a:t>›  Design acceptance targets (§6.1) not yet met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C8D6E5"/>
                </a:solidFill>
              </a:rPr>
              <a:t>›  Need ≥2 years of labeled events for robust threshold tuning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C8D6E5"/>
                </a:solidFill>
              </a:rPr>
              <a:t>›  quiet_night_stats must be regenerated after each dataset refresh
(uv run python -m h2s.defs.tiered_alerts.backtest --emit-stats)
→ add to operational runbook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C8D6E5"/>
                </a:solidFill>
              </a:rPr>
              <a:t>›  NB fallback to IB CIVIC CTR implemented but unvalidated during outages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11894" y="1298448"/>
            <a:ext cx="3566160" cy="4663440"/>
          </a:xfrm>
          <a:prstGeom prst="rect">
            <a:avLst/>
          </a:prstGeom>
          <a:solidFill>
            <a:srgbClr val="142640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11894" y="1298448"/>
            <a:ext cx="35661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2" y="138988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Gap 3  —  Single-station scope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21622" y="1792224"/>
            <a:ext cx="3346704" cy="18288"/>
          </a:xfrm>
          <a:prstGeom prst="rect">
            <a:avLst/>
          </a:prstGeom>
          <a:solidFill>
            <a:srgbClr val="2C3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2" y="1865376"/>
            <a:ext cx="3364992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C8D6E5"/>
                </a:solidFill>
              </a:rPr>
              <a:t>›  Hourly model: NESTOR-BES only — no IB CIVIC CTR or SAN YSIDRO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C8D6E5"/>
                </a:solidFill>
              </a:rPr>
              <a:t>›  No lead-time resolution — 0 h and 24 h use identical weights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C8D6E5"/>
                </a:solidFill>
              </a:rPr>
              <a:t>›  Multi-horizon pipeline built: 36 models, 3 stations, 4 horizon buckets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C8D6E5"/>
                </a:solidFill>
              </a:rPr>
              <a:t>›  STOPPED — trained on Nov 2023–Apr 2026 only, no out-of-season validation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C8D6E5"/>
                </a:solidFill>
              </a:rPr>
              <a:t>›  Path: accumulate May–Oct 2026 data, validate seasonal generalization, then restart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